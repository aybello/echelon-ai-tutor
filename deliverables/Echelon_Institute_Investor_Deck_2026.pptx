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34f787bbce4606" /><Relationship Type="http://schemas.openxmlformats.org/officeDocument/2006/relationships/extended-properties" Target="/docProps/app.xml" Id="R8c1d304e955b4f0b" /><Relationship Type="http://schemas.openxmlformats.org/officeDocument/2006/relationships/officeDocument" Target="/ppt/presentation.xml" Id="Re5c890688c3c49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6606ecd08b4035"/>
  </p:sldMasterIdLst>
  <p:notesMasterIdLst>
    <p:notesMasterId xmlns:r="http://schemas.openxmlformats.org/officeDocument/2006/relationships" r:id="Rf0177e142c694332"/>
  </p:notesMasterIdLst>
  <p:sldIdLst>
    <p:sldId xmlns:r="http://schemas.openxmlformats.org/officeDocument/2006/relationships" id="256" r:id="R8205f00b2b034daa"/>
    <p:sldId xmlns:r="http://schemas.openxmlformats.org/officeDocument/2006/relationships" id="257" r:id="Rb5441b0c3b1f4b29"/>
    <p:sldId xmlns:r="http://schemas.openxmlformats.org/officeDocument/2006/relationships" id="258" r:id="Rf6cb8391487d40a1"/>
    <p:sldId xmlns:r="http://schemas.openxmlformats.org/officeDocument/2006/relationships" id="259" r:id="R461d71e162fc4660"/>
    <p:sldId xmlns:r="http://schemas.openxmlformats.org/officeDocument/2006/relationships" id="260" r:id="Rab691c28f39845c2"/>
    <p:sldId xmlns:r="http://schemas.openxmlformats.org/officeDocument/2006/relationships" id="261" r:id="Rdd3fcb5f23c14761"/>
    <p:sldId xmlns:r="http://schemas.openxmlformats.org/officeDocument/2006/relationships" id="262" r:id="R448c97b757a54b9c"/>
    <p:sldId xmlns:r="http://schemas.openxmlformats.org/officeDocument/2006/relationships" id="263" r:id="Rf49a7e869cab4553"/>
    <p:sldId xmlns:r="http://schemas.openxmlformats.org/officeDocument/2006/relationships" id="264" r:id="R404b374f75824660"/>
    <p:sldId xmlns:r="http://schemas.openxmlformats.org/officeDocument/2006/relationships" id="265" r:id="Rc20283f35e0d42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a96803a271470f" /><Relationship Type="http://schemas.openxmlformats.org/officeDocument/2006/relationships/slideMaster" Target="/ppt/slideMasters/slideMaster1.xml" Id="Rd46606ecd08b4035" /><Relationship Type="http://schemas.openxmlformats.org/officeDocument/2006/relationships/notesMaster" Target="/ppt/notesMasters/notesMaster1.xml" Id="Rf0177e142c694332" /><Relationship Type="http://schemas.openxmlformats.org/officeDocument/2006/relationships/presProps" Target="/ppt/presProps.xml" Id="R45d96c484cdd4535" /><Relationship Type="http://schemas.openxmlformats.org/officeDocument/2006/relationships/tableStyles" Target="/ppt/tableStyles.xml" Id="Rcc12ed7579a5401b" /><Relationship Type="http://schemas.openxmlformats.org/officeDocument/2006/relationships/slide" Target="/ppt/slides/slide1.xml" Id="R8205f00b2b034daa" /><Relationship Type="http://schemas.openxmlformats.org/officeDocument/2006/relationships/slide" Target="/ppt/slides/slide2.xml" Id="Rb5441b0c3b1f4b29" /><Relationship Type="http://schemas.openxmlformats.org/officeDocument/2006/relationships/slide" Target="/ppt/slides/slide3.xml" Id="Rf6cb8391487d40a1" /><Relationship Type="http://schemas.openxmlformats.org/officeDocument/2006/relationships/slide" Target="/ppt/slides/slide4.xml" Id="R461d71e162fc4660" /><Relationship Type="http://schemas.openxmlformats.org/officeDocument/2006/relationships/slide" Target="/ppt/slides/slide5.xml" Id="Rab691c28f39845c2" /><Relationship Type="http://schemas.openxmlformats.org/officeDocument/2006/relationships/slide" Target="/ppt/slides/slide6.xml" Id="Rdd3fcb5f23c14761" /><Relationship Type="http://schemas.openxmlformats.org/officeDocument/2006/relationships/slide" Target="/ppt/slides/slide7.xml" Id="R448c97b757a54b9c" /><Relationship Type="http://schemas.openxmlformats.org/officeDocument/2006/relationships/slide" Target="/ppt/slides/slide8.xml" Id="Rf49a7e869cab4553" /><Relationship Type="http://schemas.openxmlformats.org/officeDocument/2006/relationships/slide" Target="/ppt/slides/slide9.xml" Id="R404b374f75824660" /><Relationship Type="http://schemas.openxmlformats.org/officeDocument/2006/relationships/slide" Target="/ppt/slides/slide10.xml" Id="Rc20283f35e0d42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dbd0e9cd3a47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b01dedfbc747d0" /><Relationship Type="http://schemas.openxmlformats.org/officeDocument/2006/relationships/notesMaster" Target="/ppt/notesMasters/notesMaster1.xml" Id="R18a3b99c0dfc4c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02b386119040b3" /><Relationship Type="http://schemas.openxmlformats.org/officeDocument/2006/relationships/notesMaster" Target="/ppt/notesMasters/notesMaster1.xml" Id="Rddf0b50a956f41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e4d1ef30534161" /><Relationship Type="http://schemas.openxmlformats.org/officeDocument/2006/relationships/notesMaster" Target="/ppt/notesMasters/notesMaster1.xml" Id="R53de89e9dd5e44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7a758f2f3241c7" /><Relationship Type="http://schemas.openxmlformats.org/officeDocument/2006/relationships/notesMaster" Target="/ppt/notesMasters/notesMaster1.xml" Id="R8b7c1727619443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18ab058c364c51" /><Relationship Type="http://schemas.openxmlformats.org/officeDocument/2006/relationships/notesMaster" Target="/ppt/notesMasters/notesMaster1.xml" Id="Rd79a6fa5d18346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688cd5f27449c8" /><Relationship Type="http://schemas.openxmlformats.org/officeDocument/2006/relationships/notesMaster" Target="/ppt/notesMasters/notesMaster1.xml" Id="Ra9c58962583d4f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a3f578da874a5b" /><Relationship Type="http://schemas.openxmlformats.org/officeDocument/2006/relationships/notesMaster" Target="/ppt/notesMasters/notesMaster1.xml" Id="Ra431caf912eb4b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4fd9a1be4246fb" /><Relationship Type="http://schemas.openxmlformats.org/officeDocument/2006/relationships/notesMaster" Target="/ppt/notesMasters/notesMaster1.xml" Id="R9ab6a9da0dc447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5e0edf1a514c61" /><Relationship Type="http://schemas.openxmlformats.org/officeDocument/2006/relationships/notesMaster" Target="/ppt/notesMasters/notesMaster1.xml" Id="Rb145b6535ad94a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42101f561247ed" /><Relationship Type="http://schemas.openxmlformats.org/officeDocument/2006/relationships/notesMaster" Target="/ppt/notesMasters/notesMaster1.xml" Id="R5ee05ea064664c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ecb0f0ba4e43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b82d0c40d14eab" /><Relationship Type="http://schemas.openxmlformats.org/officeDocument/2006/relationships/slideLayout" Target="/ppt/slideLayouts/slideLayout1.xml" Id="R41f609e1e1c04b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f609e1e1c04b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1d05d177e4cd0" /><Relationship Type="http://schemas.openxmlformats.org/officeDocument/2006/relationships/notesSlide" Target="/ppt/notesSlides/notesSlide1.xml" Id="Rcee09eecf1364f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cd40a275d4c8d" /><Relationship Type="http://schemas.openxmlformats.org/officeDocument/2006/relationships/notesSlide" Target="/ppt/notesSlides/notesSlide2.xml" Id="R683a77c6f40247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acba273e64c65" /><Relationship Type="http://schemas.openxmlformats.org/officeDocument/2006/relationships/notesSlide" Target="/ppt/notesSlides/notesSlide3.xml" Id="R1031ba1b2c3f42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fac9a22514af0" /><Relationship Type="http://schemas.openxmlformats.org/officeDocument/2006/relationships/notesSlide" Target="/ppt/notesSlides/notesSlide4.xml" Id="R1fe986ade4fb47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04439a6eb4797" /><Relationship Type="http://schemas.openxmlformats.org/officeDocument/2006/relationships/notesSlide" Target="/ppt/notesSlides/notesSlide5.xml" Id="Rbfc35033900a44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d42af296c40ad" /><Relationship Type="http://schemas.openxmlformats.org/officeDocument/2006/relationships/notesSlide" Target="/ppt/notesSlides/notesSlide6.xml" Id="Rbef2b185a8c447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24508fd9444a4" /><Relationship Type="http://schemas.openxmlformats.org/officeDocument/2006/relationships/notesSlide" Target="/ppt/notesSlides/notesSlide7.xml" Id="R093c8381934543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3a0332b8a41bf" /><Relationship Type="http://schemas.openxmlformats.org/officeDocument/2006/relationships/notesSlide" Target="/ppt/notesSlides/notesSlide8.xml" Id="R6b7e78a9c93a4b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1f884344d47e3" /><Relationship Type="http://schemas.openxmlformats.org/officeDocument/2006/relationships/notesSlide" Target="/ppt/notesSlides/notesSlide9.xml" Id="Refecc4b04b654a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cbcd069b24583" /><Relationship Type="http://schemas.openxmlformats.org/officeDocument/2006/relationships/notesSlide" Target="/ppt/notesSlides/notesSlide10.xml" Id="R5b827675b46541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3F330-6329-4560-B395-2FD1967E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85"/>
                </a:solidFill>
              </a:defRPr>
            </a:pPr>
            <a:r>
              <a:rPr sz="900" b="1">
                <a:solidFill>
                  <a:srgbClr val="1E5A85"/>
                </a:solidFill>
              </a:rPr>
              <a:t>ECHELON INSTITUTE ·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9CA57-0590-4F64-ADC9-4A79583A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Certification infrastructure for skilled trades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F302B-FB1E-4A53-B243-63F16BA4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E5A85"/>
                </a:solidFill>
              </a:defRPr>
            </a:pPr>
            <a:r>
              <a:rPr sz="825" b="1">
                <a:solidFill>
                  <a:srgbClr val="1E5A8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803BB-543E-474D-92A9-9883B64E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E5A85"/>
                </a:solidFill>
              </a:defRPr>
            </a:pPr>
            <a:r>
              <a:rPr sz="1875" b="0">
                <a:solidFill>
                  <a:srgbClr val="1E5A85"/>
                </a:solidFill>
              </a:rPr>
              <a:t>Beginning with water and wastewater operators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8C683-7D98-4319-8A02-5781ADB1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E7837-6B24-43AB-AA6E-5CAA08DF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18,000+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E27CE-D6FA-4D0D-B953-8A1B87C1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6EEF6"/>
                </a:solidFill>
              </a:defRPr>
            </a:pPr>
            <a:r>
              <a:rPr sz="1425" b="0">
                <a:solidFill>
                  <a:srgbClr val="D6EEF6"/>
                </a:solidFill>
              </a:rPr>
              <a:t>practice questions across the current catalogue</a:t>
            </a:r>
          </a:p>
        </p:txBody>
      </p:sp>
    </p:spTree>
    <p:extLst>
      <p:ext uri="{BB962C8B-B14F-4D97-AF65-F5344CB8AC3E}">
        <p14:creationId xmlns:p14="http://schemas.microsoft.com/office/powerpoint/2010/main" val="1368825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5777B-8F12-4653-B96C-4D45EBE4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85"/>
                </a:solidFill>
              </a:defRPr>
            </a:pPr>
            <a:r>
              <a:rPr sz="900" b="1">
                <a:solidFill>
                  <a:srgbClr val="1E5A85"/>
                </a:solidFill>
              </a:rPr>
              <a:t>ECHELON INSTITUTE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745E2-F1BD-49FE-9D22-0A709CF7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Certification preparation is fragmented, but the consequence is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06AF7-02AC-4EEA-871E-B5238D4B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E5A85"/>
                </a:solidFill>
              </a:defRPr>
            </a:pPr>
            <a:r>
              <a:rPr sz="825" b="1">
                <a:solidFill>
                  <a:srgbClr val="1E5A85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FB4C2-CCD1-417F-A357-152A6150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3293D"/>
                </a:solidFill>
              </a:defRPr>
            </a:pPr>
            <a:r>
              <a:rPr sz="1950" b="0">
                <a:solidFill>
                  <a:srgbClr val="13293D"/>
                </a:solidFill>
              </a:rPr>
              <a:t>Operators navigate jurisdiction-specific rules, technical formulas, static manuals, and high-stakes exams.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D55B8-F36F-4FFE-9CEA-822341F7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3293D"/>
                </a:solidFill>
              </a:defRPr>
            </a:pPr>
            <a:r>
              <a:rPr sz="1950" b="0">
                <a:solidFill>
                  <a:srgbClr val="13293D"/>
                </a:solidFill>
              </a:rPr>
              <a:t>Utilities pay for training yet often lack activation, readiness, and outcome visibility.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3F17E-DEF2-4A28-A477-48FB1077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E5A85"/>
                </a:solidFill>
              </a:defRPr>
            </a:pPr>
            <a:r>
              <a:rPr sz="1800" b="1">
                <a:solidFill>
                  <a:srgbClr val="1E5A85"/>
                </a:solidFill>
              </a:rPr>
              <a:t>The job is not more content. It is a reliable path from assignment to demonstrated readiness.</a:t>
            </a:r>
          </a:p>
        </p:txBody>
      </p:sp>
    </p:spTree>
    <p:extLst>
      <p:ext uri="{BB962C8B-B14F-4D97-AF65-F5344CB8AC3E}">
        <p14:creationId xmlns:p14="http://schemas.microsoft.com/office/powerpoint/2010/main" val="20323171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6B7F3-C4F9-4896-8A94-E2292A33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85"/>
                </a:solidFill>
              </a:defRPr>
            </a:pPr>
            <a:r>
              <a:rPr sz="900" b="1">
                <a:solidFill>
                  <a:srgbClr val="1E5A85"/>
                </a:solidFill>
              </a:rPr>
              <a:t>ECHELON INSTITUTE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78AAA-BEEB-48DD-987D-A0F8BC4B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Echelon connects study, practice, and employer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0EA0C-0E1D-447B-A5AE-BB09C976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E5A85"/>
                </a:solidFill>
              </a:defRPr>
            </a:pPr>
            <a:r>
              <a:rPr sz="825" b="1">
                <a:solidFill>
                  <a:srgbClr val="1E5A85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6A13F-4118-482E-8077-D266C45F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4EA22-7808-4634-B420-E397469B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90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93D"/>
                </a:solidFill>
              </a:defRPr>
            </a:pPr>
            <a:r>
              <a:rPr sz="1725" b="1">
                <a:solidFill>
                  <a:srgbClr val="13293D"/>
                </a:solidFill>
              </a:rPr>
              <a:t>Learn</a:t>
            </a:r>
          </a:p>
          <a:p xmlns:a="http://schemas.openxmlformats.org/drawingml/2006/main">
            <a:pPr>
              <a:defRPr sz="1725" b="1">
                <a:solidFill>
                  <a:srgbClr val="13293D"/>
                </a:solidFill>
              </a:defRPr>
            </a:pPr>
            <a:r>
              <a:rPr sz="1725" b="1">
                <a:solidFill>
                  <a:srgbClr val="13293D"/>
                </a:solidFill>
              </a:rPr>
              <a:t>Process Guides + resources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7EEB9-7BCF-4C98-95A9-1B369860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749D1-D7EF-4C25-BEBE-8702F251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24125"/>
            <a:ext cx="190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93D"/>
                </a:solidFill>
              </a:defRPr>
            </a:pPr>
            <a:r>
              <a:rPr sz="1725" b="1">
                <a:solidFill>
                  <a:srgbClr val="13293D"/>
                </a:solidFill>
              </a:rPr>
              <a:t>Practise</a:t>
            </a:r>
          </a:p>
          <a:p xmlns:a="http://schemas.openxmlformats.org/drawingml/2006/main">
            <a:pPr>
              <a:defRPr sz="1725" b="1">
                <a:solidFill>
                  <a:srgbClr val="13293D"/>
                </a:solidFill>
              </a:defRPr>
            </a:pPr>
            <a:r>
              <a:rPr sz="1725" b="1">
                <a:solidFill>
                  <a:srgbClr val="13293D"/>
                </a:solidFill>
              </a:rPr>
              <a:t>Questions + mock exams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A2919-8841-451B-B736-09D183BD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27DB0-BB07-4346-A3B1-A131B5A5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90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93D"/>
                </a:solidFill>
              </a:defRPr>
            </a:pPr>
            <a:r>
              <a:rPr sz="1725" b="1">
                <a:solidFill>
                  <a:srgbClr val="13293D"/>
                </a:solidFill>
              </a:rPr>
              <a:t>Improve</a:t>
            </a:r>
          </a:p>
          <a:p xmlns:a="http://schemas.openxmlformats.org/drawingml/2006/main">
            <a:pPr>
              <a:defRPr sz="1725" b="1">
                <a:solidFill>
                  <a:srgbClr val="13293D"/>
                </a:solidFill>
              </a:defRPr>
            </a:pPr>
            <a:r>
              <a:rPr sz="1725" b="1">
                <a:solidFill>
                  <a:srgbClr val="13293D"/>
                </a:solidFill>
              </a:rPr>
              <a:t>AI tutor + weak topics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5C9FA-42C0-428F-8A3B-16778583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91D83-FF9C-4C42-8056-8422757B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24125"/>
            <a:ext cx="190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5A85"/>
                </a:solidFill>
              </a:defRPr>
            </a:pPr>
            <a:r>
              <a:rPr sz="1725" b="1">
                <a:solidFill>
                  <a:srgbClr val="1E5A85"/>
                </a:solidFill>
              </a:rPr>
              <a:t>Prove</a:t>
            </a:r>
          </a:p>
          <a:p xmlns:a="http://schemas.openxmlformats.org/drawingml/2006/main">
            <a:pPr>
              <a:defRPr sz="1725" b="1">
                <a:solidFill>
                  <a:srgbClr val="1E5A85"/>
                </a:solidFill>
              </a:defRPr>
            </a:pPr>
            <a:r>
              <a:rPr sz="1725" b="1">
                <a:solidFill>
                  <a:srgbClr val="1E5A85"/>
                </a:solidFill>
              </a:rPr>
              <a:t>Readiness + manager reporting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8A1DA-9166-4641-AA5E-773F1DC5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5A85"/>
                </a:solidFill>
              </a:defRPr>
            </a:pPr>
            <a:r>
              <a:rPr sz="1650" b="1">
                <a:solidFill>
                  <a:srgbClr val="1E5A85"/>
                </a:solidFill>
              </a:rPr>
              <a:t>One learner identity. One entitlement system. One institutional view.</a:t>
            </a:r>
          </a:p>
        </p:txBody>
      </p:sp>
    </p:spTree>
    <p:extLst>
      <p:ext uri="{BB962C8B-B14F-4D97-AF65-F5344CB8AC3E}">
        <p14:creationId xmlns:p14="http://schemas.microsoft.com/office/powerpoint/2010/main" val="714722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CBBA6-731A-4CAB-944E-54738102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85"/>
                </a:solidFill>
              </a:defRPr>
            </a:pPr>
            <a:r>
              <a:rPr sz="900" b="1">
                <a:solidFill>
                  <a:srgbClr val="1E5A85"/>
                </a:solidFill>
              </a:rPr>
              <a:t>ECHELON INSTITUTE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16480-9919-45B5-9558-BFD68D13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The beachhead is already broad enough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832A3-C45D-4985-BA42-BA71D0C0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E5A85"/>
                </a:solidFill>
              </a:defRPr>
            </a:pPr>
            <a:r>
              <a:rPr sz="825" b="1">
                <a:solidFill>
                  <a:srgbClr val="1E5A85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5FB14-F7D8-47D2-AC24-2FB1AE98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E5A85"/>
                </a:solidFill>
              </a:defRPr>
            </a:pPr>
            <a:r>
              <a:rPr sz="3900" b="1">
                <a:solidFill>
                  <a:srgbClr val="1E5A85"/>
                </a:solidFill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DFD99-9DEC-415E-83DF-0846C2BE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93D"/>
                </a:solidFill>
              </a:defRPr>
            </a:pPr>
            <a:r>
              <a:rPr sz="1425" b="1">
                <a:solidFill>
                  <a:srgbClr val="13293D"/>
                </a:solidFill>
              </a:rPr>
              <a:t>certification streams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C9350-66E4-43B7-8286-CEADE851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Ontario + WPI-aligned jurisdictions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BC9C7-89E6-4603-9B0C-C785F557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93D"/>
                </a:solidFill>
              </a:defRPr>
            </a:pPr>
            <a:r>
              <a:rPr sz="1500" b="0">
                <a:solidFill>
                  <a:srgbClr val="13293D"/>
                </a:solidFill>
              </a:rPr>
              <a:t>Canada and state-qualified US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7CEE7-1E81-481E-BB49-5685CD11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E5A85"/>
                </a:solidFill>
              </a:defRPr>
            </a:pPr>
            <a:r>
              <a:rPr sz="3900" b="1">
                <a:solidFill>
                  <a:srgbClr val="1E5A85"/>
                </a:solidFill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5B374-200E-4856-8044-FD85B7C4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93D"/>
                </a:solidFill>
              </a:defRPr>
            </a:pPr>
            <a:r>
              <a:rPr sz="1425" b="1">
                <a:solidFill>
                  <a:srgbClr val="13293D"/>
                </a:solidFill>
              </a:rPr>
              <a:t>interactive Process Guides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26FEB-4491-442A-A558-98FFAE54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E5A85"/>
                </a:solidFill>
              </a:defRPr>
            </a:pPr>
            <a:r>
              <a:rPr sz="1800" b="1">
                <a:solidFill>
                  <a:srgbClr val="1E5A85"/>
                </a:solidFill>
              </a:rPr>
              <a:t>Water remains the proving ground. New trades wait for renewal and unit economics.</a:t>
            </a:r>
          </a:p>
        </p:txBody>
      </p:sp>
    </p:spTree>
    <p:extLst>
      <p:ext uri="{BB962C8B-B14F-4D97-AF65-F5344CB8AC3E}">
        <p14:creationId xmlns:p14="http://schemas.microsoft.com/office/powerpoint/2010/main" val="2125528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2F279-4009-49B0-9330-3F0FDF44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85"/>
                </a:solidFill>
              </a:defRPr>
            </a:pPr>
            <a:r>
              <a:rPr sz="900" b="1">
                <a:solidFill>
                  <a:srgbClr val="1E5A85"/>
                </a:solidFill>
              </a:rPr>
              <a:t>ECHELON INSTITUTE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45AF3-E436-4C2D-9C26-CBE7D21D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Municipal licensing is the commercial wedge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F4B9E-7D2F-4B79-8E64-D33CFC27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E5A85"/>
                </a:solidFill>
              </a:defRPr>
            </a:pPr>
            <a:r>
              <a:rPr sz="825" b="1">
                <a:solidFill>
                  <a:srgbClr val="1E5A85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0E1AB-0E8C-4C1F-ACFE-8FC22C2E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Annual Teams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DFB3E-EB55-4942-AF85-29A2CD2F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93D"/>
                </a:solidFill>
              </a:defRPr>
            </a:pPr>
            <a:r>
              <a:rPr sz="1500" b="0">
                <a:solidFill>
                  <a:srgbClr val="13293D"/>
                </a:solidFill>
              </a:rPr>
              <a:t>From CA$449 per operator/year for a single stream, before volume discounts.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13BFC-14E8-48A7-9FDA-C0747089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Course Passes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82611-C61E-476F-98F8-3DBAB34B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93D"/>
                </a:solidFill>
              </a:defRPr>
            </a:pPr>
            <a:r>
              <a:rPr sz="1500" b="0">
                <a:solidFill>
                  <a:srgbClr val="13293D"/>
                </a:solidFill>
              </a:rPr>
              <a:t>Three- or six-month course-specific access for targeted cohorts.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8153F-65FC-47F2-9BDD-95C4D120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5A85"/>
                </a:solidFill>
              </a:defRPr>
            </a:pPr>
            <a:r>
              <a:rPr sz="1725" b="1">
                <a:solidFill>
                  <a:srgbClr val="1E5A85"/>
                </a:solidFill>
              </a:rPr>
              <a:t>Bulk onboarding and manager reporting turn a purchase into an operating workflow.</a:t>
            </a:r>
          </a:p>
        </p:txBody>
      </p:sp>
    </p:spTree>
    <p:extLst>
      <p:ext uri="{BB962C8B-B14F-4D97-AF65-F5344CB8AC3E}">
        <p14:creationId xmlns:p14="http://schemas.microsoft.com/office/powerpoint/2010/main" val="277747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25607-21A4-4A8F-AF84-9167A8F4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85"/>
                </a:solidFill>
              </a:defRPr>
            </a:pPr>
            <a:r>
              <a:rPr sz="900" b="1">
                <a:solidFill>
                  <a:srgbClr val="1E5A85"/>
                </a:solidFill>
              </a:rPr>
              <a:t>ECHELON INSTITUTE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84BF6-AFBF-44CC-BF35-EFCFDEC8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Early traction now needs stronger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8671F-E6CD-4D7B-95FC-B902DB0F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E5A85"/>
                </a:solidFill>
              </a:defRPr>
            </a:pPr>
            <a:r>
              <a:rPr sz="825" b="1">
                <a:solidFill>
                  <a:srgbClr val="1E5A85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65BE1-2BD8-4C8A-A0F0-394415CE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137D0-F414-45CD-9481-5FBA184D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E5A85"/>
                </a:solidFill>
              </a:defRPr>
            </a:pPr>
            <a:r>
              <a:rPr sz="3150" b="1">
                <a:solidFill>
                  <a:srgbClr val="1E5A85"/>
                </a:solidFill>
              </a:rPr>
              <a:t>$8.5K+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B3FCB-AB45-407C-8CC1-C0E44939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93D"/>
                </a:solidFill>
              </a:defRPr>
            </a:pPr>
            <a:r>
              <a:rPr sz="1425" b="0">
                <a:solidFill>
                  <a:srgbClr val="13293D"/>
                </a:solidFill>
              </a:rPr>
              <a:t>early 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D2923-88DE-4911-855F-4AA71F11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99F0D-DF17-48F1-8A9E-63FACC6C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E5A85"/>
                </a:solidFill>
              </a:defRPr>
            </a:pPr>
            <a:r>
              <a:rPr sz="3150" b="1">
                <a:solidFill>
                  <a:srgbClr val="1E5A85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334FD-B9B1-46BB-9327-B2F9E8B2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861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93D"/>
                </a:solidFill>
              </a:defRPr>
            </a:pPr>
            <a:r>
              <a:rPr sz="1425" b="0">
                <a:solidFill>
                  <a:srgbClr val="13293D"/>
                </a:solidFill>
              </a:rPr>
              <a:t>Utilities Kingston operators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9A19E-FC60-4411-90D7-6CC1FA79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DAB94-C4AD-4774-A42E-44F6FD8B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E5A85"/>
                </a:solidFill>
              </a:defRPr>
            </a:pPr>
            <a:r>
              <a:rPr sz="3150" b="1">
                <a:solidFill>
                  <a:srgbClr val="1E5A85"/>
                </a:solidFill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3B915-EBD4-4002-8B11-436E2FBB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861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93D"/>
                </a:solidFill>
              </a:defRPr>
            </a:pPr>
            <a:r>
              <a:rPr sz="1425" b="0">
                <a:solidFill>
                  <a:srgbClr val="13293D"/>
                </a:solidFill>
              </a:rPr>
              <a:t>possible Winnipeg pilot seats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B4835-B8DA-4DE9-9E6E-6F8C1624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These are proof points, not yet a repeatable growth curve.</a:t>
            </a:r>
          </a:p>
        </p:txBody>
      </p:sp>
    </p:spTree>
    <p:extLst>
      <p:ext uri="{BB962C8B-B14F-4D97-AF65-F5344CB8AC3E}">
        <p14:creationId xmlns:p14="http://schemas.microsoft.com/office/powerpoint/2010/main" val="3187612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3CEC6-F4A2-4901-B59B-18CEC853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85"/>
                </a:solidFill>
              </a:defRPr>
            </a:pPr>
            <a:r>
              <a:rPr sz="900" b="1">
                <a:solidFill>
                  <a:srgbClr val="1E5A85"/>
                </a:solidFill>
              </a:rPr>
              <a:t>ECHELON INSTITUTE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BEB3D-5989-42C0-801B-F511EE86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The market case is replacement, regulation, and employer need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AC1FD-81B0-4265-9738-C4094F9B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E5A85"/>
                </a:solidFill>
              </a:defRPr>
            </a:pPr>
            <a:r>
              <a:rPr sz="825" b="1">
                <a:solidFill>
                  <a:srgbClr val="1E5A85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7ADF6-94CE-49A8-851A-262B4566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E5A85"/>
                </a:solidFill>
              </a:defRPr>
            </a:pPr>
            <a:r>
              <a:rPr sz="3000" b="1">
                <a:solidFill>
                  <a:srgbClr val="1E5A85"/>
                </a:solidFill>
              </a:rPr>
              <a:t>US$58,260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2E254-A0CE-4C70-B444-15279466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93D"/>
                </a:solidFill>
              </a:defRPr>
            </a:pPr>
            <a:r>
              <a:rPr sz="1350" b="0">
                <a:solidFill>
                  <a:srgbClr val="13293D"/>
                </a:solidFill>
              </a:rPr>
              <a:t>US median annual wage, May 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2886D-B803-4188-B1DC-2EE942A9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E5A85"/>
                </a:solidFill>
              </a:defRPr>
            </a:pPr>
            <a:r>
              <a:rPr sz="3000" b="1">
                <a:solidFill>
                  <a:srgbClr val="1E5A85"/>
                </a:solidFill>
              </a:rPr>
              <a:t>10,700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7A8AB-EB86-4695-BAD2-AA096058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93D"/>
                </a:solidFill>
              </a:defRPr>
            </a:pPr>
            <a:r>
              <a:rPr sz="1350" b="0">
                <a:solidFill>
                  <a:srgbClr val="13293D"/>
                </a:solidFill>
              </a:rPr>
              <a:t>annual US openings projected, primarily replacement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428BA-CC55-4405-8655-A359F1E3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BLS projects total US employment to decline 7% from 2024–2034. Echelon should not describe this as job growth.</a:t>
            </a:r>
          </a:p>
        </p:txBody>
      </p:sp>
    </p:spTree>
    <p:extLst>
      <p:ext uri="{BB962C8B-B14F-4D97-AF65-F5344CB8AC3E}">
        <p14:creationId xmlns:p14="http://schemas.microsoft.com/office/powerpoint/2010/main" val="12908583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B6BAC-9EA9-42BC-960E-758CAEB3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85"/>
                </a:solidFill>
              </a:defRPr>
            </a:pPr>
            <a:r>
              <a:rPr sz="900" b="1">
                <a:solidFill>
                  <a:srgbClr val="1E5A85"/>
                </a:solidFill>
              </a:rPr>
              <a:t>ECHELON INSTITUTE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BA695-EBF4-4AB3-83F1-768BABE4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The next 12 months prove repeatability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0B287-CF09-4257-85D0-E2014EA3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E5A85"/>
                </a:solidFill>
              </a:defRPr>
            </a:pPr>
            <a:r>
              <a:rPr sz="825" b="1">
                <a:solidFill>
                  <a:srgbClr val="1E5A85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F5876-C454-42F6-B825-1C057041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5A85"/>
                </a:solidFill>
              </a:defRPr>
            </a:pPr>
            <a:r>
              <a:rPr sz="1425" b="1">
                <a:solidFill>
                  <a:srgbClr val="1E5A85"/>
                </a:solidFill>
              </a:rPr>
              <a:t>Q3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028B8-A306-4485-960E-B86DB2B1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526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93D"/>
                </a:solidFill>
              </a:defRPr>
            </a:pPr>
            <a:r>
              <a:rPr sz="1725" b="1">
                <a:solidFill>
                  <a:srgbClr val="13293D"/>
                </a:solidFill>
              </a:rPr>
              <a:t>Trust + production hardening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67F76-1B1B-4487-BD22-F30354BF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5A85"/>
                </a:solidFill>
              </a:defRPr>
            </a:pPr>
            <a:r>
              <a:rPr sz="1425" b="1">
                <a:solidFill>
                  <a:srgbClr val="1E5A85"/>
                </a:solidFill>
              </a:rPr>
              <a:t>Q4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0A707-7C6A-44D5-B885-DA2021CF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575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93D"/>
                </a:solidFill>
              </a:defRPr>
            </a:pPr>
            <a:r>
              <a:rPr sz="1725" b="0">
                <a:solidFill>
                  <a:srgbClr val="13293D"/>
                </a:solidFill>
              </a:rPr>
              <a:t>Paid municipal cohort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14E36-18BC-4575-92A0-615EDA65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5A85"/>
                </a:solidFill>
              </a:defRPr>
            </a:pPr>
            <a:r>
              <a:rPr sz="1425" b="1">
                <a:solidFill>
                  <a:srgbClr val="1E5A85"/>
                </a:solidFill>
              </a:rPr>
              <a:t>Q1 2027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84B6C-8C11-4275-B3FE-6A28D42B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623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93D"/>
                </a:solidFill>
              </a:defRPr>
            </a:pPr>
            <a:r>
              <a:rPr sz="1725" b="0">
                <a:solidFill>
                  <a:srgbClr val="13293D"/>
                </a:solidFill>
              </a:rPr>
              <a:t>Verified exam outcomes + renewal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920A6-82E6-416E-8864-EAA2DBC8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5A85"/>
                </a:solidFill>
              </a:defRPr>
            </a:pPr>
            <a:r>
              <a:rPr sz="1425" b="1">
                <a:solidFill>
                  <a:srgbClr val="1E5A85"/>
                </a:solidFill>
              </a:rPr>
              <a:t>Q2 2027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89F21-CCEE-40D7-8411-CE1FD15C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672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93D"/>
                </a:solidFill>
              </a:defRPr>
            </a:pPr>
            <a:r>
              <a:rPr sz="1725" b="0">
                <a:solidFill>
                  <a:srgbClr val="13293D"/>
                </a:solidFill>
              </a:rPr>
              <a:t>Repeatable pipeline + unit economics</a:t>
            </a:r>
          </a:p>
        </p:txBody>
      </p:sp>
    </p:spTree>
    <p:extLst>
      <p:ext uri="{BB962C8B-B14F-4D97-AF65-F5344CB8AC3E}">
        <p14:creationId xmlns:p14="http://schemas.microsoft.com/office/powerpoint/2010/main" val="17918890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47B5B-5778-492E-B454-318EA36E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85"/>
                </a:solidFill>
              </a:defRPr>
            </a:pPr>
            <a:r>
              <a:rPr sz="900" b="1">
                <a:solidFill>
                  <a:srgbClr val="1E5A85"/>
                </a:solidFill>
              </a:rPr>
              <a:t>ECHELON INSTITUTE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24DF9-0A91-4B89-8013-399D863B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Expansion is earned through operating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F085E-B50B-4E83-9035-C45B6A81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E5A85"/>
                </a:solidFill>
              </a:defRPr>
            </a:pPr>
            <a:r>
              <a:rPr sz="825" b="1">
                <a:solidFill>
                  <a:srgbClr val="1E5A85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199B6-C04A-4D82-9F44-B5BAB5A5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3B5D9"/>
                </a:solidFill>
              </a:defRPr>
            </a:pPr>
            <a:r>
              <a:rPr sz="2850" b="1">
                <a:solidFill>
                  <a:srgbClr val="43B5D9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60515-AA1F-4AD7-8474-98932BE6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4787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Deploy the trust and hardening release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E31DE-587E-4FAE-BF10-67DE4AC6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3B5D9"/>
                </a:solidFill>
              </a:defRPr>
            </a:pPr>
            <a:r>
              <a:rPr sz="2850" b="1">
                <a:solidFill>
                  <a:srgbClr val="43B5D9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05E85-CF48-428B-8B33-555A671E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037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Run the real paid activation-to-access smoke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C8703-9E72-4223-A0DD-B7CD0CDF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3B5D9"/>
                </a:solidFill>
              </a:defRPr>
            </a:pPr>
            <a:r>
              <a:rPr sz="2850" b="1">
                <a:solidFill>
                  <a:srgbClr val="43B5D9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299C9-52C7-4EDB-B2F0-CCA64AE0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528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Capture engagement, exam outcomes, and renewal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40D39-AFEA-4201-889B-E43CCC30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5A85"/>
                </a:solidFill>
              </a:defRPr>
            </a:pPr>
            <a:r>
              <a:rPr sz="1725" b="1">
                <a:solidFill>
                  <a:srgbClr val="1E5A85"/>
                </a:solidFill>
              </a:rPr>
              <a:t>Then scale municipalities, US coverage, and eventually adjacent trades.</a:t>
            </a:r>
          </a:p>
        </p:txBody>
      </p:sp>
    </p:spTree>
    <p:extLst>
      <p:ext uri="{BB962C8B-B14F-4D97-AF65-F5344CB8AC3E}">
        <p14:creationId xmlns:p14="http://schemas.microsoft.com/office/powerpoint/2010/main" val="19673481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A9097-822C-4FB5-9DC8-F69E8CCC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85"/>
                </a:solidFill>
              </a:defRPr>
            </a:pPr>
            <a:r>
              <a:rPr sz="900" b="1">
                <a:solidFill>
                  <a:srgbClr val="1E5A85"/>
                </a:solidFill>
              </a:rPr>
              <a:t>ECHELON INSTITUTE ·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C5F97-E069-46CF-92A8-3912679D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Build the category by proving the first wedge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70695-4D42-4AF5-86E2-E8B4CEAA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E5A85"/>
                </a:solidFill>
              </a:defRPr>
            </a:pPr>
            <a:r>
              <a:rPr sz="825" b="1">
                <a:solidFill>
                  <a:srgbClr val="1E5A85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8DF70-B00D-44D9-9EB5-0D0F8875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Echelon is not another question bank.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04946-6BF8-4D62-8649-43FE42A5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E5A85"/>
                </a:solidFill>
              </a:defRPr>
            </a:pPr>
            <a:r>
              <a:rPr sz="2100" b="0">
                <a:solidFill>
                  <a:srgbClr val="1E5A85"/>
                </a:solidFill>
              </a:rPr>
              <a:t>It is the certification infrastructure that operators use to prepare and employers use to prove readiness.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63962-3AF0-4649-96B8-DB808872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Immediate ask: municipal introductions, technical content review, and pilot partners.</a:t>
            </a:r>
          </a:p>
        </p:txBody>
      </p:sp>
    </p:spTree>
    <p:extLst>
      <p:ext uri="{BB962C8B-B14F-4D97-AF65-F5344CB8AC3E}">
        <p14:creationId xmlns:p14="http://schemas.microsoft.com/office/powerpoint/2010/main" val="940915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2026-08-11T12:45:37.5360000Z</dcterms:created>
  <dcterms:modified xsi:type="dcterms:W3CDTF">2026-08-11T12:45:37.5360000Z</dcterms:modified>
</coreProperties>
</file>